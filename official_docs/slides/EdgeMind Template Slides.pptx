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ubik"/>
      <p:regular r:id="rId21"/>
      <p:bold r:id="rId22"/>
      <p:italic r:id="rId23"/>
      <p:boldItalic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Roland Donat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543F66-96C3-4759-B2A5-2ACF3FF334E0}">
  <a:tblStyle styleId="{7B543F66-96C3-4759-B2A5-2ACF3FF334E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ubik-bold.fntdata"/><Relationship Id="rId21" Type="http://schemas.openxmlformats.org/officeDocument/2006/relationships/font" Target="fonts/Rubik-regular.fntdata"/><Relationship Id="rId24" Type="http://schemas.openxmlformats.org/officeDocument/2006/relationships/font" Target="fonts/Rubik-boldItalic.fntdata"/><Relationship Id="rId23" Type="http://schemas.openxmlformats.org/officeDocument/2006/relationships/font" Target="fonts/Rubik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18T07:18:22.490">
    <p:pos x="3587" y="601"/>
    <p:text>Illustration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6-18T07:18:10.518">
    <p:pos x="398" y="716"/>
    <p:text>Exemple d'illustration utilisant les outils de diagramme Google Slides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6-18T07:21:44.565">
    <p:pos x="96" y="658"/>
    <p:text>Un tableau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1pPr>
            <a:lvl2pPr indent="-29845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2pPr>
            <a:lvl3pPr indent="-29845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3pPr>
            <a:lvl4pPr indent="-29845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4pPr>
            <a:lvl5pPr indent="-29845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5pPr>
            <a:lvl6pPr indent="-29845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6pPr>
            <a:lvl7pPr indent="-29845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7pPr>
            <a:lvl8pPr indent="-29845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8pPr>
            <a:lvl9pPr indent="-29845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c4ad7a63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2c4ad7a63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fe0a30801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2fe0a30801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" sz="1100" u="none" cap="none" strike="noStrike"/>
              <a:t>Mise en forme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b48541c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b48541c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1953c1c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1953c1c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b48541c5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2b48541c5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" sz="1100" u="none" cap="none" strike="noStrike"/>
              <a:t>Mise en forme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2b48541c5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2b48541c5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" sz="1100" u="none" cap="none" strike="noStrike"/>
              <a:t>Mise en forme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eb3cceb0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eb3cceb0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eb3cceb08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1eb3cceb08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" sz="1100" u="none" cap="none" strike="noStrike"/>
              <a:t>Mise en forme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b0ed23e79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b0ed23e79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b0ed23e79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2b0ed23e79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" sz="1100" u="none" cap="none" strike="noStrike"/>
              <a:t>Mise en forme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a308012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fe0a308012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b0ed23e7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2b0ed23e7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" sz="1100" u="none" cap="none" strike="noStrike"/>
              <a:t>Mise en forme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b0ed23e79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2b0ed23e79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d532f269c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2d532f269c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indent="0"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indent="0"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indent="0"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indent="0"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indent="0"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indent="0"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indent="0"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1" i="0" sz="2400" u="none" cap="none" strike="noStrike">
                <a:solidFill>
                  <a:srgbClr val="FF631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descr="logo_edgemind_hz.png" id="17" name="Google Shape;1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4883" y="4711289"/>
            <a:ext cx="979500" cy="29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/>
        </p:nvSpPr>
        <p:spPr>
          <a:xfrm>
            <a:off x="3410100" y="4797074"/>
            <a:ext cx="23238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" sz="700" u="none" cap="none" strike="noStrike">
                <a:solidFill>
                  <a:srgbClr val="1F416D"/>
                </a:solidFill>
                <a:latin typeface="Open Sans"/>
                <a:ea typeface="Open Sans"/>
                <a:cs typeface="Open Sans"/>
                <a:sym typeface="Open Sans"/>
              </a:rPr>
              <a:t>DATA SCIENCE - SIMULATION - OPTIMISATION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indent="0"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indent="0"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indent="0"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indent="0"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indent="0"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indent="0"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indent="0"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indent="0"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indent="0"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indent="0"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indent="0"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indent="0"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indent="0"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indent="0"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indent="0"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indent="0"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indent="0"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indent="0"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indent="0"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indent="0"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indent="0"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490250" y="3075425"/>
            <a:ext cx="7335000" cy="14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e de titre">
  <p:cSld name="1_Diapositive de titr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2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2.xml"/><Relationship Id="rId4" Type="http://schemas.openxmlformats.org/officeDocument/2006/relationships/image" Target="../media/image4.png"/><Relationship Id="rId9" Type="http://schemas.openxmlformats.org/officeDocument/2006/relationships/image" Target="../media/image19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3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17.png"/><Relationship Id="rId5" Type="http://schemas.openxmlformats.org/officeDocument/2006/relationships/image" Target="../media/image10.jp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fr.freepik.com/vecteurs/fond" TargetMode="External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/>
        </p:nvSpPr>
        <p:spPr>
          <a:xfrm>
            <a:off x="1295537" y="3137191"/>
            <a:ext cx="6552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EF7B26"/>
                </a:solidFill>
                <a:latin typeface="Open Sans"/>
                <a:ea typeface="Open Sans"/>
                <a:cs typeface="Open Sans"/>
                <a:sym typeface="Open Sans"/>
              </a:rPr>
              <a:t>&lt;CONTEXTE&gt;</a:t>
            </a:r>
            <a:endParaRPr sz="2000">
              <a:solidFill>
                <a:srgbClr val="EF7B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&lt;DATE&gt;</a:t>
            </a:r>
            <a:endParaRPr sz="2000">
              <a:solidFill>
                <a:srgbClr val="EF7B2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314850" y="228250"/>
            <a:ext cx="8514300" cy="1803300"/>
          </a:xfrm>
          <a:prstGeom prst="roundRect">
            <a:avLst>
              <a:gd fmla="val 16667" name="adj"/>
            </a:avLst>
          </a:prstGeom>
          <a:solidFill>
            <a:srgbClr val="1F416D"/>
          </a:solidFill>
          <a:ln cap="flat" cmpd="sng" w="9525">
            <a:solidFill>
              <a:srgbClr val="1F416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400">
                <a:solidFill>
                  <a:srgbClr val="C9D4E6"/>
                </a:solidFill>
                <a:latin typeface="Open Sans"/>
                <a:ea typeface="Open Sans"/>
                <a:cs typeface="Open Sans"/>
                <a:sym typeface="Open Sans"/>
              </a:rPr>
              <a:t>&lt;TITRE&gt;</a:t>
            </a:r>
            <a:endParaRPr b="1" sz="2400">
              <a:solidFill>
                <a:srgbClr val="C9D4E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000">
                <a:solidFill>
                  <a:srgbClr val="FF6319"/>
                </a:solidFill>
                <a:latin typeface="Open Sans"/>
                <a:ea typeface="Open Sans"/>
                <a:cs typeface="Open Sans"/>
                <a:sym typeface="Open Sans"/>
              </a:rPr>
              <a:t>&lt;SOUS-TITRE (OPTION)&gt;</a:t>
            </a:r>
            <a:endParaRPr b="1" sz="2000">
              <a:solidFill>
                <a:srgbClr val="FF631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logo_edgemind_original_bitmap.png" id="63" name="Google Shape;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1995" y="2237350"/>
            <a:ext cx="960000" cy="8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 txBox="1"/>
          <p:nvPr/>
        </p:nvSpPr>
        <p:spPr>
          <a:xfrm>
            <a:off x="1874700" y="3910075"/>
            <a:ext cx="53946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F7B26"/>
                </a:solidFill>
                <a:latin typeface="Open Sans"/>
                <a:ea typeface="Open Sans"/>
                <a:cs typeface="Open Sans"/>
                <a:sym typeface="Open Sans"/>
              </a:rPr>
              <a:t>&lt;SOUS CONTEXTE (OPTION)&gt; </a:t>
            </a:r>
            <a:endParaRPr sz="1600">
              <a:solidFill>
                <a:srgbClr val="EF7B2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5800" y="955550"/>
            <a:ext cx="3448200" cy="34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/>
        </p:nvSpPr>
        <p:spPr>
          <a:xfrm>
            <a:off x="311700" y="1013725"/>
            <a:ext cx="5865600" cy="3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416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ITEM 1</a:t>
            </a:r>
            <a:br>
              <a:rPr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ITEM 2</a:t>
            </a:r>
            <a:br>
              <a:rPr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….</a:t>
            </a: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140225"/>
            <a:ext cx="8520600" cy="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EF7B26"/>
                </a:solidFill>
              </a:rPr>
              <a:t>SOMMAIRE</a:t>
            </a:r>
            <a:br>
              <a:rPr lang="en" sz="3000">
                <a:solidFill>
                  <a:srgbClr val="EF7B26"/>
                </a:solidFill>
              </a:rPr>
            </a:br>
            <a:endParaRPr sz="3000">
              <a:solidFill>
                <a:srgbClr val="EF7B26"/>
              </a:solidFill>
            </a:endParaRPr>
          </a:p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7"/>
          <p:cNvSpPr txBox="1"/>
          <p:nvPr/>
        </p:nvSpPr>
        <p:spPr>
          <a:xfrm>
            <a:off x="490250" y="3075425"/>
            <a:ext cx="7335000" cy="14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&lt;TITRE SECTION&gt;</a:t>
            </a:r>
            <a:endParaRPr b="1" sz="4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4E6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8"/>
          <p:cNvSpPr txBox="1"/>
          <p:nvPr/>
        </p:nvSpPr>
        <p:spPr>
          <a:xfrm>
            <a:off x="490250" y="3075425"/>
            <a:ext cx="7335000" cy="1465500"/>
          </a:xfrm>
          <a:prstGeom prst="rect">
            <a:avLst/>
          </a:prstGeom>
          <a:noFill/>
          <a:ln cap="flat" cmpd="sng" w="9525">
            <a:solidFill>
              <a:srgbClr val="4454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44546A"/>
                </a:solidFill>
                <a:latin typeface="Open Sans"/>
                <a:ea typeface="Open Sans"/>
                <a:cs typeface="Open Sans"/>
                <a:sym typeface="Open Sans"/>
              </a:rPr>
              <a:t>&lt;TITRE SOUS-SECTION&gt;</a:t>
            </a:r>
            <a:endParaRPr b="1" sz="4000">
              <a:solidFill>
                <a:srgbClr val="44546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490250" y="2472200"/>
            <a:ext cx="7335000" cy="603300"/>
          </a:xfrm>
          <a:prstGeom prst="rect">
            <a:avLst/>
          </a:prstGeom>
          <a:noFill/>
          <a:ln cap="flat" cmpd="sng" w="9525">
            <a:solidFill>
              <a:srgbClr val="4454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EF7B26"/>
                </a:solidFill>
                <a:latin typeface="Open Sans"/>
                <a:ea typeface="Open Sans"/>
                <a:cs typeface="Open Sans"/>
                <a:sym typeface="Open Sans"/>
              </a:rPr>
              <a:t>&lt;TITRE SECTION&gt;</a:t>
            </a:r>
            <a:endParaRPr b="1" sz="1700">
              <a:solidFill>
                <a:srgbClr val="EF7B2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6522" y="1782248"/>
            <a:ext cx="2594626" cy="145359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140225"/>
            <a:ext cx="8520600" cy="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EF7B26"/>
                </a:solidFill>
              </a:rPr>
              <a:t>&lt;TITRE&gt;</a:t>
            </a:r>
            <a:endParaRPr sz="3000">
              <a:solidFill>
                <a:srgbClr val="EF7B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800">
                <a:solidFill>
                  <a:srgbClr val="44546A"/>
                </a:solidFill>
              </a:rPr>
              <a:t>&lt;SOUS-TITRE (OPTION)</a:t>
            </a:r>
            <a:endParaRPr b="0" sz="1800">
              <a:solidFill>
                <a:srgbClr val="44546A"/>
              </a:solidFill>
            </a:endParaRPr>
          </a:p>
        </p:txBody>
      </p:sp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311700" y="1013725"/>
            <a:ext cx="4862100" cy="3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F416D"/>
                </a:solidFill>
                <a:latin typeface="Open Sans"/>
                <a:ea typeface="Open Sans"/>
                <a:cs typeface="Open Sans"/>
                <a:sym typeface="Open Sans"/>
              </a:rPr>
              <a:t>CONTENU</a:t>
            </a:r>
            <a:endParaRPr sz="1600">
              <a:solidFill>
                <a:srgbClr val="50505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6528" y="3292523"/>
            <a:ext cx="2594611" cy="1453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1000" y="2452293"/>
            <a:ext cx="2594626" cy="145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1004" y="729506"/>
            <a:ext cx="2594626" cy="145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140225"/>
            <a:ext cx="8520600" cy="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EF7B26"/>
                </a:solidFill>
              </a:rPr>
              <a:t>&lt;TITRE&gt;</a:t>
            </a:r>
            <a:endParaRPr sz="3000">
              <a:solidFill>
                <a:srgbClr val="EF7B26"/>
              </a:solidFill>
            </a:endParaRPr>
          </a:p>
        </p:txBody>
      </p:sp>
      <p:sp>
        <p:nvSpPr>
          <p:cNvPr id="102" name="Google Shape;102;p20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311700" y="1013725"/>
            <a:ext cx="5311200" cy="3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416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ITEM 1</a:t>
            </a:r>
            <a:br>
              <a:rPr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ITEM 2</a:t>
            </a:r>
            <a:br>
              <a:rPr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…</a:t>
            </a: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1250" y="1685725"/>
            <a:ext cx="3117900" cy="21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1"/>
          <p:cNvSpPr txBox="1"/>
          <p:nvPr/>
        </p:nvSpPr>
        <p:spPr>
          <a:xfrm>
            <a:off x="490250" y="3075425"/>
            <a:ext cx="7335000" cy="14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&lt;TITRE&gt;</a:t>
            </a:r>
            <a:endParaRPr b="1" sz="4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/>
          <p:nvPr/>
        </p:nvSpPr>
        <p:spPr>
          <a:xfrm>
            <a:off x="632525" y="1136925"/>
            <a:ext cx="4970400" cy="34032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2"/>
          <p:cNvSpPr/>
          <p:nvPr/>
        </p:nvSpPr>
        <p:spPr>
          <a:xfrm>
            <a:off x="862450" y="1762850"/>
            <a:ext cx="2879400" cy="2408100"/>
          </a:xfrm>
          <a:prstGeom prst="roundRect">
            <a:avLst>
              <a:gd fmla="val 5858" name="adj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/>
          <p:nvPr/>
        </p:nvSpPr>
        <p:spPr>
          <a:xfrm>
            <a:off x="6411475" y="1136925"/>
            <a:ext cx="2100000" cy="3403200"/>
          </a:xfrm>
          <a:prstGeom prst="roundRect">
            <a:avLst>
              <a:gd fmla="val 16667" name="adj"/>
            </a:avLst>
          </a:prstGeom>
          <a:solidFill>
            <a:srgbClr val="C9D4E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140225"/>
            <a:ext cx="8520600" cy="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EF7B26"/>
                </a:solidFill>
              </a:rPr>
              <a:t>&lt;TITRE&gt;</a:t>
            </a:r>
            <a:br>
              <a:rPr lang="en" sz="3000">
                <a:solidFill>
                  <a:srgbClr val="EF7B26"/>
                </a:solidFill>
              </a:rPr>
            </a:br>
            <a:endParaRPr sz="3000">
              <a:solidFill>
                <a:srgbClr val="EF7B26"/>
              </a:solidFill>
            </a:endParaRPr>
          </a:p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  <p:pic>
        <p:nvPicPr>
          <p:cNvPr id="120" name="Google Shape;120;p22"/>
          <p:cNvPicPr preferRelativeResize="0"/>
          <p:nvPr/>
        </p:nvPicPr>
        <p:blipFill rotWithShape="1">
          <a:blip r:embed="rId4">
            <a:alphaModFix/>
          </a:blip>
          <a:srcRect b="0" l="0" r="77397" t="0"/>
          <a:stretch/>
        </p:blipFill>
        <p:spPr>
          <a:xfrm>
            <a:off x="2923838" y="1181150"/>
            <a:ext cx="387775" cy="387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descr="logo_edgemind_original_bitmap.png" id="121" name="Google Shape;12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9825" y="1181150"/>
            <a:ext cx="663300" cy="6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/>
          <p:cNvPicPr preferRelativeResize="0"/>
          <p:nvPr/>
        </p:nvPicPr>
        <p:blipFill rotWithShape="1">
          <a:blip r:embed="rId6">
            <a:alphaModFix/>
          </a:blip>
          <a:srcRect b="30006" l="0" r="0" t="0"/>
          <a:stretch/>
        </p:blipFill>
        <p:spPr>
          <a:xfrm>
            <a:off x="1249434" y="3410398"/>
            <a:ext cx="599731" cy="62341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3" name="Google Shape;12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44878" y="3473993"/>
            <a:ext cx="1497974" cy="49621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24" name="Google Shape;124;p22"/>
          <p:cNvSpPr/>
          <p:nvPr/>
        </p:nvSpPr>
        <p:spPr>
          <a:xfrm>
            <a:off x="3921750" y="2719250"/>
            <a:ext cx="1563900" cy="548700"/>
          </a:xfrm>
          <a:prstGeom prst="roundRect">
            <a:avLst>
              <a:gd fmla="val 31052" name="adj"/>
            </a:avLst>
          </a:prstGeom>
          <a:solidFill>
            <a:srgbClr val="EAD1D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Chef de projet IMdR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Open Sans"/>
                <a:ea typeface="Open Sans"/>
                <a:cs typeface="Open Sans"/>
                <a:sym typeface="Open Sans"/>
              </a:rPr>
              <a:t>Emmanuel ARBARETIER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 rotWithShape="1">
          <a:blip r:embed="rId8">
            <a:alphaModFix/>
          </a:blip>
          <a:srcRect b="37907" l="0" r="0" t="0"/>
          <a:stretch/>
        </p:blipFill>
        <p:spPr>
          <a:xfrm>
            <a:off x="2480011" y="1986505"/>
            <a:ext cx="1100913" cy="35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23855" y="2631830"/>
            <a:ext cx="599844" cy="723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6985" y="1927630"/>
            <a:ext cx="1100894" cy="468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/>
          <p:nvPr/>
        </p:nvSpPr>
        <p:spPr>
          <a:xfrm>
            <a:off x="6679525" y="2287685"/>
            <a:ext cx="1563900" cy="548700"/>
          </a:xfrm>
          <a:prstGeom prst="roundRect">
            <a:avLst>
              <a:gd fmla="val 31052" name="adj"/>
            </a:avLst>
          </a:prstGeom>
          <a:solidFill>
            <a:srgbClr val="1F41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9D4E6"/>
                </a:solidFill>
                <a:latin typeface="Open Sans"/>
                <a:ea typeface="Open Sans"/>
                <a:cs typeface="Open Sans"/>
                <a:sym typeface="Open Sans"/>
              </a:rPr>
              <a:t>Chef de projet </a:t>
            </a:r>
            <a:endParaRPr b="1" sz="1100">
              <a:solidFill>
                <a:srgbClr val="C9D4E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9D4E6"/>
                </a:solidFill>
                <a:latin typeface="Open Sans"/>
                <a:ea typeface="Open Sans"/>
                <a:cs typeface="Open Sans"/>
                <a:sym typeface="Open Sans"/>
              </a:rPr>
              <a:t>Roland DONAT</a:t>
            </a:r>
            <a:endParaRPr sz="800">
              <a:solidFill>
                <a:srgbClr val="C9D4E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6679525" y="3150835"/>
            <a:ext cx="1563900" cy="548700"/>
          </a:xfrm>
          <a:prstGeom prst="roundRect">
            <a:avLst>
              <a:gd fmla="val 31052" name="adj"/>
            </a:avLst>
          </a:prstGeom>
          <a:solidFill>
            <a:srgbClr val="1F41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9D4E6"/>
                </a:solidFill>
                <a:latin typeface="Open Sans"/>
                <a:ea typeface="Open Sans"/>
                <a:cs typeface="Open Sans"/>
                <a:sym typeface="Open Sans"/>
              </a:rPr>
              <a:t>Ingénieur modélisation</a:t>
            </a:r>
            <a:r>
              <a:rPr b="1" lang="en" sz="1100">
                <a:solidFill>
                  <a:srgbClr val="C9D4E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100">
              <a:solidFill>
                <a:srgbClr val="C9D4E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9D4E6"/>
                </a:solidFill>
                <a:latin typeface="Open Sans"/>
                <a:ea typeface="Open Sans"/>
                <a:cs typeface="Open Sans"/>
                <a:sym typeface="Open Sans"/>
              </a:rPr>
              <a:t>Loïc PEREZ</a:t>
            </a:r>
            <a:endParaRPr sz="800">
              <a:solidFill>
                <a:srgbClr val="C9D4E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5732850" y="2829350"/>
            <a:ext cx="548700" cy="3285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070C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 txBox="1"/>
          <p:nvPr/>
        </p:nvSpPr>
        <p:spPr>
          <a:xfrm>
            <a:off x="6541825" y="4162975"/>
            <a:ext cx="183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Titulaire du projet</a:t>
            </a:r>
            <a:endParaRPr b="1"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1382500" y="4162975"/>
            <a:ext cx="183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Souscripteurs</a:t>
            </a:r>
            <a:endParaRPr b="1"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5606550" y="960875"/>
            <a:ext cx="801300" cy="312300"/>
          </a:xfrm>
          <a:prstGeom prst="rect">
            <a:avLst/>
          </a:prstGeom>
          <a:solidFill>
            <a:srgbClr val="EF7B2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KICKOFF 03/07/2024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110925" y="2661950"/>
            <a:ext cx="663300" cy="66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79157" y="2735280"/>
            <a:ext cx="206487" cy="20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 rotWithShape="1">
          <a:blip r:embed="rId12">
            <a:alphaModFix/>
          </a:blip>
          <a:srcRect b="30249" l="12364" r="12198" t="21577"/>
          <a:stretch/>
        </p:blipFill>
        <p:spPr>
          <a:xfrm>
            <a:off x="943963" y="2849699"/>
            <a:ext cx="1100899" cy="2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3"/>
          <p:cNvSpPr txBox="1"/>
          <p:nvPr/>
        </p:nvSpPr>
        <p:spPr>
          <a:xfrm>
            <a:off x="490250" y="3075425"/>
            <a:ext cx="7335000" cy="14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ONTOLOGIE</a:t>
            </a:r>
            <a:endParaRPr b="1" sz="4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311700" y="140225"/>
            <a:ext cx="8520600" cy="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EF7B26"/>
                </a:solidFill>
              </a:rPr>
              <a:t>&lt;TITRE&gt;</a:t>
            </a:r>
            <a:endParaRPr sz="3000">
              <a:solidFill>
                <a:srgbClr val="EF7B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EF7B26"/>
              </a:solidFill>
            </a:endParaRPr>
          </a:p>
        </p:txBody>
      </p:sp>
      <p:sp>
        <p:nvSpPr>
          <p:cNvPr id="148" name="Google Shape;148;p2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149" name="Google Shape;149;p24"/>
          <p:cNvGraphicFramePr/>
          <p:nvPr/>
        </p:nvGraphicFramePr>
        <p:xfrm>
          <a:off x="152400" y="1045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{7B543F66-96C3-4759-B2A5-2ACF3FF334E0}</a:tableStyleId>
              </a:tblPr>
              <a:tblGrid>
                <a:gridCol w="983675"/>
                <a:gridCol w="3912175"/>
                <a:gridCol w="39433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5"/>
          <p:cNvSpPr txBox="1"/>
          <p:nvPr/>
        </p:nvSpPr>
        <p:spPr>
          <a:xfrm>
            <a:off x="490250" y="3075425"/>
            <a:ext cx="7335000" cy="14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OUTILS DE MODÉLISATION</a:t>
            </a:r>
            <a:endParaRPr b="1" sz="4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/>
          <p:nvPr/>
        </p:nvSpPr>
        <p:spPr>
          <a:xfrm rot="-8327">
            <a:off x="2010418" y="1321220"/>
            <a:ext cx="5077815" cy="2930443"/>
          </a:xfrm>
          <a:prstGeom prst="roundRect">
            <a:avLst>
              <a:gd fmla="val 30689" name="adj"/>
            </a:avLst>
          </a:prstGeom>
          <a:solidFill>
            <a:srgbClr val="FFD9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6"/>
          <p:cNvSpPr txBox="1"/>
          <p:nvPr>
            <p:ph type="title"/>
          </p:nvPr>
        </p:nvSpPr>
        <p:spPr>
          <a:xfrm>
            <a:off x="311700" y="140225"/>
            <a:ext cx="8520600" cy="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EF7B26"/>
                </a:solidFill>
              </a:rPr>
              <a:t>&lt;TITRE&gt;</a:t>
            </a:r>
            <a:br>
              <a:rPr lang="en" sz="3000">
                <a:solidFill>
                  <a:srgbClr val="EF7B26"/>
                </a:solidFill>
              </a:rPr>
            </a:br>
            <a:r>
              <a:rPr b="0" lang="en" sz="1800">
                <a:solidFill>
                  <a:srgbClr val="1F416D"/>
                </a:solidFill>
              </a:rPr>
              <a:t>&lt;SOUS-TITRE&gt;</a:t>
            </a:r>
            <a:endParaRPr sz="3000">
              <a:solidFill>
                <a:srgbClr val="EF7B26"/>
              </a:solidFill>
            </a:endParaRPr>
          </a:p>
        </p:txBody>
      </p:sp>
      <p:sp>
        <p:nvSpPr>
          <p:cNvPr id="162" name="Google Shape;162;p26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63" name="Google Shape;163;p26"/>
          <p:cNvSpPr/>
          <p:nvPr/>
        </p:nvSpPr>
        <p:spPr>
          <a:xfrm rot="8371">
            <a:off x="428940" y="1709675"/>
            <a:ext cx="6652820" cy="2250900"/>
          </a:xfrm>
          <a:prstGeom prst="roundRect">
            <a:avLst>
              <a:gd fmla="val 16131" name="adj"/>
            </a:avLst>
          </a:prstGeom>
          <a:solidFill>
            <a:srgbClr val="6FA8DC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t/>
            </a:r>
            <a:endParaRPr b="1" sz="825">
              <a:solidFill>
                <a:srgbClr val="FF6319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4" name="Google Shape;164;p26"/>
          <p:cNvSpPr/>
          <p:nvPr/>
        </p:nvSpPr>
        <p:spPr>
          <a:xfrm rot="3078">
            <a:off x="4890274" y="1316850"/>
            <a:ext cx="4020602" cy="2926800"/>
          </a:xfrm>
          <a:prstGeom prst="roundRect">
            <a:avLst>
              <a:gd fmla="val 22092" name="adj"/>
            </a:avLst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5" name="Google Shape;165;p26"/>
          <p:cNvGrpSpPr/>
          <p:nvPr/>
        </p:nvGrpSpPr>
        <p:grpSpPr>
          <a:xfrm>
            <a:off x="5519538" y="2531140"/>
            <a:ext cx="882337" cy="722672"/>
            <a:chOff x="3503571" y="3318048"/>
            <a:chExt cx="1035000" cy="847710"/>
          </a:xfrm>
        </p:grpSpPr>
        <p:pic>
          <p:nvPicPr>
            <p:cNvPr id="166" name="Google Shape;166;p26"/>
            <p:cNvPicPr preferRelativeResize="0"/>
            <p:nvPr/>
          </p:nvPicPr>
          <p:blipFill rotWithShape="1">
            <a:blip r:embed="rId3">
              <a:alphaModFix/>
            </a:blip>
            <a:srcRect b="20481" l="26079" r="21086" t="18836"/>
            <a:stretch/>
          </p:blipFill>
          <p:spPr>
            <a:xfrm>
              <a:off x="3821435" y="3318048"/>
              <a:ext cx="399298" cy="4617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26"/>
            <p:cNvSpPr txBox="1"/>
            <p:nvPr/>
          </p:nvSpPr>
          <p:spPr>
            <a:xfrm>
              <a:off x="3503571" y="3831858"/>
              <a:ext cx="1035000" cy="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 lnSpcReduction="10000"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853"/>
                <a:buNone/>
              </a:pPr>
              <a:r>
                <a:rPr b="1" lang="en" sz="800">
                  <a:solidFill>
                    <a:schemeClr val="dk2"/>
                  </a:solidFill>
                  <a:latin typeface="Rubik"/>
                  <a:ea typeface="Rubik"/>
                  <a:cs typeface="Rubik"/>
                  <a:sym typeface="Rubik"/>
                </a:rPr>
                <a:t>PyCATSHOO</a:t>
              </a:r>
              <a:endParaRPr b="1" sz="8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pic>
        <p:nvPicPr>
          <p:cNvPr id="168" name="Google Shape;168;p26"/>
          <p:cNvPicPr preferRelativeResize="0"/>
          <p:nvPr/>
        </p:nvPicPr>
        <p:blipFill rotWithShape="1">
          <a:blip r:embed="rId4">
            <a:alphaModFix/>
          </a:blip>
          <a:srcRect b="35967" l="0" r="0" t="0"/>
          <a:stretch/>
        </p:blipFill>
        <p:spPr>
          <a:xfrm>
            <a:off x="920425" y="2309312"/>
            <a:ext cx="498625" cy="51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6"/>
          <p:cNvPicPr preferRelativeResize="0"/>
          <p:nvPr/>
        </p:nvPicPr>
        <p:blipFill rotWithShape="1">
          <a:blip r:embed="rId5">
            <a:alphaModFix/>
          </a:blip>
          <a:srcRect b="30891" l="0" r="0" t="19294"/>
          <a:stretch/>
        </p:blipFill>
        <p:spPr>
          <a:xfrm>
            <a:off x="3756900" y="2750175"/>
            <a:ext cx="1010125" cy="28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/>
        </p:nvSpPr>
        <p:spPr>
          <a:xfrm>
            <a:off x="492192" y="2694539"/>
            <a:ext cx="135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825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Safety Architect</a:t>
            </a:r>
            <a:endParaRPr b="1" sz="825">
              <a:solidFill>
                <a:schemeClr val="dk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171" name="Google Shape;171;p26"/>
          <p:cNvGrpSpPr/>
          <p:nvPr/>
        </p:nvGrpSpPr>
        <p:grpSpPr>
          <a:xfrm>
            <a:off x="2335029" y="2009829"/>
            <a:ext cx="1355100" cy="641635"/>
            <a:chOff x="2150729" y="1560379"/>
            <a:chExt cx="1355100" cy="641635"/>
          </a:xfrm>
        </p:grpSpPr>
        <p:pic>
          <p:nvPicPr>
            <p:cNvPr id="172" name="Google Shape;172;p2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461574" y="1560379"/>
              <a:ext cx="733425" cy="3025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26"/>
            <p:cNvSpPr txBox="1"/>
            <p:nvPr/>
          </p:nvSpPr>
          <p:spPr>
            <a:xfrm>
              <a:off x="2150729" y="1808414"/>
              <a:ext cx="13551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SzPts val="688"/>
                <a:buNone/>
              </a:pPr>
              <a:r>
                <a:rPr b="1" lang="en" sz="825">
                  <a:solidFill>
                    <a:schemeClr val="dk2"/>
                  </a:solidFill>
                  <a:latin typeface="Rubik"/>
                  <a:ea typeface="Rubik"/>
                  <a:cs typeface="Rubik"/>
                  <a:sym typeface="Rubik"/>
                </a:rPr>
                <a:t>ModelBuilder (KB3)</a:t>
              </a:r>
              <a:endParaRPr b="1" sz="825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grpSp>
        <p:nvGrpSpPr>
          <p:cNvPr id="174" name="Google Shape;174;p26"/>
          <p:cNvGrpSpPr/>
          <p:nvPr/>
        </p:nvGrpSpPr>
        <p:grpSpPr>
          <a:xfrm>
            <a:off x="7154396" y="2514649"/>
            <a:ext cx="1574517" cy="647766"/>
            <a:chOff x="6702997" y="2173381"/>
            <a:chExt cx="1903200" cy="782988"/>
          </a:xfrm>
        </p:grpSpPr>
        <p:pic>
          <p:nvPicPr>
            <p:cNvPr id="175" name="Google Shape;175;p2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313492" y="2173381"/>
              <a:ext cx="682209" cy="4782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26"/>
            <p:cNvSpPr txBox="1"/>
            <p:nvPr/>
          </p:nvSpPr>
          <p:spPr>
            <a:xfrm>
              <a:off x="6702997" y="2579568"/>
              <a:ext cx="1903200" cy="3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SzPts val="688"/>
                <a:buNone/>
              </a:pPr>
              <a:r>
                <a:rPr b="1" lang="en" sz="825">
                  <a:solidFill>
                    <a:schemeClr val="dk2"/>
                  </a:solidFill>
                  <a:latin typeface="Rubik"/>
                  <a:ea typeface="Rubik"/>
                  <a:cs typeface="Rubik"/>
                  <a:sym typeface="Rubik"/>
                </a:rPr>
                <a:t>Modelica</a:t>
              </a:r>
              <a:endParaRPr b="1" sz="825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grpSp>
        <p:nvGrpSpPr>
          <p:cNvPr id="177" name="Google Shape;177;p26"/>
          <p:cNvGrpSpPr/>
          <p:nvPr/>
        </p:nvGrpSpPr>
        <p:grpSpPr>
          <a:xfrm>
            <a:off x="3493067" y="1879475"/>
            <a:ext cx="1355100" cy="870689"/>
            <a:chOff x="3493067" y="1727075"/>
            <a:chExt cx="1355100" cy="870689"/>
          </a:xfrm>
        </p:grpSpPr>
        <p:pic>
          <p:nvPicPr>
            <p:cNvPr id="178" name="Google Shape;178;p2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880100" y="1727075"/>
              <a:ext cx="566725" cy="566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26"/>
            <p:cNvSpPr txBox="1"/>
            <p:nvPr/>
          </p:nvSpPr>
          <p:spPr>
            <a:xfrm>
              <a:off x="3493067" y="2204164"/>
              <a:ext cx="13551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SzPts val="688"/>
                <a:buNone/>
              </a:pPr>
              <a:r>
                <a:rPr b="1" lang="en" sz="825">
                  <a:solidFill>
                    <a:schemeClr val="dk2"/>
                  </a:solidFill>
                  <a:latin typeface="Rubik"/>
                  <a:ea typeface="Rubik"/>
                  <a:cs typeface="Rubik"/>
                  <a:sym typeface="Rubik"/>
                </a:rPr>
                <a:t>Simfia Neo</a:t>
              </a:r>
              <a:endParaRPr b="1" sz="825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grpSp>
        <p:nvGrpSpPr>
          <p:cNvPr id="180" name="Google Shape;180;p26"/>
          <p:cNvGrpSpPr/>
          <p:nvPr/>
        </p:nvGrpSpPr>
        <p:grpSpPr>
          <a:xfrm>
            <a:off x="2853067" y="3197561"/>
            <a:ext cx="1355100" cy="733815"/>
            <a:chOff x="3222842" y="3366648"/>
            <a:chExt cx="1355100" cy="733815"/>
          </a:xfrm>
        </p:grpSpPr>
        <p:pic>
          <p:nvPicPr>
            <p:cNvPr id="181" name="Google Shape;181;p2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459250" y="3366648"/>
              <a:ext cx="882301" cy="395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26"/>
            <p:cNvSpPr txBox="1"/>
            <p:nvPr/>
          </p:nvSpPr>
          <p:spPr>
            <a:xfrm>
              <a:off x="3222842" y="3706864"/>
              <a:ext cx="13551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SzPts val="688"/>
                <a:buNone/>
              </a:pPr>
              <a:r>
                <a:rPr b="1" lang="en" sz="825">
                  <a:solidFill>
                    <a:schemeClr val="dk2"/>
                  </a:solidFill>
                  <a:latin typeface="Rubik"/>
                  <a:ea typeface="Rubik"/>
                  <a:cs typeface="Rubik"/>
                  <a:sym typeface="Rubik"/>
                </a:rPr>
                <a:t>Open Altarica 3.0</a:t>
              </a:r>
              <a:endParaRPr b="1" sz="825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pic>
        <p:nvPicPr>
          <p:cNvPr id="183" name="Google Shape;183;p26"/>
          <p:cNvPicPr preferRelativeResize="0"/>
          <p:nvPr/>
        </p:nvPicPr>
        <p:blipFill rotWithShape="1">
          <a:blip r:embed="rId10">
            <a:alphaModFix/>
          </a:blip>
          <a:srcRect b="49957" l="0" r="0" t="0"/>
          <a:stretch/>
        </p:blipFill>
        <p:spPr>
          <a:xfrm>
            <a:off x="728588" y="3041625"/>
            <a:ext cx="882300" cy="2254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26"/>
          <p:cNvGrpSpPr/>
          <p:nvPr/>
        </p:nvGrpSpPr>
        <p:grpSpPr>
          <a:xfrm>
            <a:off x="2099779" y="2608487"/>
            <a:ext cx="1355100" cy="567970"/>
            <a:chOff x="2278542" y="2774425"/>
            <a:chExt cx="1355100" cy="567970"/>
          </a:xfrm>
        </p:grpSpPr>
        <p:pic>
          <p:nvPicPr>
            <p:cNvPr id="185" name="Google Shape;185;p26"/>
            <p:cNvPicPr preferRelativeResize="0"/>
            <p:nvPr/>
          </p:nvPicPr>
          <p:blipFill rotWithShape="1">
            <a:blip r:embed="rId10">
              <a:alphaModFix/>
            </a:blip>
            <a:srcRect b="49957" l="0" r="0" t="0"/>
            <a:stretch/>
          </p:blipFill>
          <p:spPr>
            <a:xfrm>
              <a:off x="2514950" y="2774425"/>
              <a:ext cx="882300" cy="2254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26"/>
            <p:cNvSpPr txBox="1"/>
            <p:nvPr/>
          </p:nvSpPr>
          <p:spPr>
            <a:xfrm>
              <a:off x="2278542" y="2948795"/>
              <a:ext cx="13551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 lnSpcReduction="20000"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SzPts val="688"/>
                <a:buNone/>
              </a:pPr>
              <a:r>
                <a:rPr b="1" lang="en" sz="825">
                  <a:solidFill>
                    <a:schemeClr val="dk2"/>
                  </a:solidFill>
                  <a:latin typeface="Rubik"/>
                  <a:ea typeface="Rubik"/>
                  <a:cs typeface="Rubik"/>
                  <a:sym typeface="Rubik"/>
                </a:rPr>
                <a:t>GRIF </a:t>
              </a:r>
              <a:endParaRPr b="1" sz="825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SzPts val="688"/>
                <a:buNone/>
              </a:pPr>
              <a:r>
                <a:rPr b="1" lang="en" sz="825">
                  <a:solidFill>
                    <a:schemeClr val="dk2"/>
                  </a:solidFill>
                  <a:latin typeface="Rubik"/>
                  <a:ea typeface="Rubik"/>
                  <a:cs typeface="Rubik"/>
                  <a:sym typeface="Rubik"/>
                </a:rPr>
                <a:t>Modules </a:t>
              </a:r>
              <a:r>
                <a:rPr b="1" lang="en" sz="825">
                  <a:solidFill>
                    <a:schemeClr val="dk2"/>
                  </a:solidFill>
                  <a:latin typeface="Rubik"/>
                  <a:ea typeface="Rubik"/>
                  <a:cs typeface="Rubik"/>
                  <a:sym typeface="Rubik"/>
                </a:rPr>
                <a:t>dynamiques</a:t>
              </a:r>
              <a:endParaRPr b="1" sz="825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sp>
        <p:nvSpPr>
          <p:cNvPr id="187" name="Google Shape;187;p26"/>
          <p:cNvSpPr txBox="1"/>
          <p:nvPr/>
        </p:nvSpPr>
        <p:spPr>
          <a:xfrm>
            <a:off x="492179" y="3220526"/>
            <a:ext cx="135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825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GRIF </a:t>
            </a:r>
            <a:endParaRPr b="1" sz="825">
              <a:solidFill>
                <a:schemeClr val="dk2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825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modules</a:t>
            </a:r>
            <a:r>
              <a:rPr b="1" lang="en" sz="825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 statiques</a:t>
            </a:r>
            <a:endParaRPr b="1" sz="825">
              <a:solidFill>
                <a:schemeClr val="dk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3584404" y="2955514"/>
            <a:ext cx="135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825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CECILIA Workshop</a:t>
            </a:r>
            <a:endParaRPr b="1" sz="825">
              <a:solidFill>
                <a:schemeClr val="dk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7154400" y="1754825"/>
            <a:ext cx="1456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825">
                <a:solidFill>
                  <a:srgbClr val="FF6319"/>
                </a:solidFill>
                <a:latin typeface="Rubik"/>
                <a:ea typeface="Rubik"/>
                <a:cs typeface="Rubik"/>
                <a:sym typeface="Rubik"/>
              </a:rPr>
              <a:t>Modélisation</a:t>
            </a:r>
            <a:r>
              <a:rPr b="1" lang="en" sz="825">
                <a:solidFill>
                  <a:srgbClr val="FF6319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b="1" lang="en" sz="825">
                <a:solidFill>
                  <a:srgbClr val="FF6319"/>
                </a:solidFill>
                <a:latin typeface="Rubik"/>
                <a:ea typeface="Rubik"/>
                <a:cs typeface="Rubik"/>
                <a:sym typeface="Rubik"/>
              </a:rPr>
              <a:t>déterministe</a:t>
            </a:r>
            <a:endParaRPr b="1" sz="825">
              <a:solidFill>
                <a:srgbClr val="FF6319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825">
                <a:solidFill>
                  <a:srgbClr val="FF6319"/>
                </a:solidFill>
                <a:latin typeface="Rubik"/>
                <a:ea typeface="Rubik"/>
                <a:cs typeface="Rubik"/>
                <a:sym typeface="Rubik"/>
              </a:rPr>
              <a:t>multi-physique </a:t>
            </a:r>
            <a:endParaRPr b="1" sz="825">
              <a:solidFill>
                <a:srgbClr val="FF6319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492200" y="1830925"/>
            <a:ext cx="1574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825">
                <a:solidFill>
                  <a:srgbClr val="FF6319"/>
                </a:solidFill>
                <a:latin typeface="Rubik"/>
                <a:ea typeface="Rubik"/>
                <a:cs typeface="Rubik"/>
                <a:sym typeface="Rubik"/>
              </a:rPr>
              <a:t>Modélisation stochastique</a:t>
            </a:r>
            <a:r>
              <a:rPr b="1" lang="en" sz="825">
                <a:solidFill>
                  <a:srgbClr val="FF6319"/>
                </a:solidFill>
                <a:latin typeface="Rubik"/>
                <a:ea typeface="Rubik"/>
                <a:cs typeface="Rubik"/>
                <a:sym typeface="Rubik"/>
              </a:rPr>
              <a:t> statique</a:t>
            </a:r>
            <a:endParaRPr b="1" sz="825">
              <a:solidFill>
                <a:srgbClr val="FF6319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2682711" y="1277125"/>
            <a:ext cx="2184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825">
                <a:solidFill>
                  <a:srgbClr val="FF6319"/>
                </a:solidFill>
                <a:latin typeface="Rubik"/>
                <a:ea typeface="Rubik"/>
                <a:cs typeface="Rubik"/>
                <a:sym typeface="Rubik"/>
              </a:rPr>
              <a:t>Modélisation</a:t>
            </a:r>
            <a:r>
              <a:rPr b="1" lang="en" sz="825">
                <a:solidFill>
                  <a:srgbClr val="FF6319"/>
                </a:solidFill>
                <a:latin typeface="Rubik"/>
                <a:ea typeface="Rubik"/>
                <a:cs typeface="Rubik"/>
                <a:sym typeface="Rubik"/>
              </a:rPr>
              <a:t> stochastique </a:t>
            </a:r>
            <a:endParaRPr b="1" sz="825">
              <a:solidFill>
                <a:srgbClr val="FF6319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825">
                <a:solidFill>
                  <a:srgbClr val="FF6319"/>
                </a:solidFill>
                <a:latin typeface="Rubik"/>
                <a:ea typeface="Rubik"/>
                <a:cs typeface="Rubik"/>
                <a:sym typeface="Rubik"/>
              </a:rPr>
              <a:t>Dynamique discrète</a:t>
            </a:r>
            <a:endParaRPr b="1" sz="825">
              <a:solidFill>
                <a:srgbClr val="FF6319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5225123" y="1879487"/>
            <a:ext cx="135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825">
                <a:solidFill>
                  <a:srgbClr val="FF6319"/>
                </a:solidFill>
                <a:latin typeface="Rubik"/>
                <a:ea typeface="Rubik"/>
                <a:cs typeface="Rubik"/>
                <a:sym typeface="Rubik"/>
              </a:rPr>
              <a:t>Modélisation</a:t>
            </a:r>
            <a:r>
              <a:rPr b="1" lang="en" sz="825">
                <a:solidFill>
                  <a:srgbClr val="FF6319"/>
                </a:solidFill>
                <a:latin typeface="Rubik"/>
                <a:ea typeface="Rubik"/>
                <a:cs typeface="Rubik"/>
                <a:sym typeface="Rubik"/>
              </a:rPr>
              <a:t> hybride</a:t>
            </a:r>
            <a:endParaRPr b="1" sz="825">
              <a:solidFill>
                <a:srgbClr val="FF6319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EF7B26"/>
                </a:solidFill>
                <a:latin typeface="Open Sans"/>
                <a:ea typeface="Open Sans"/>
                <a:cs typeface="Open Sans"/>
                <a:sym typeface="Open Sans"/>
              </a:rPr>
              <a:t>MERCI DE VOTRE ATTENTION !</a:t>
            </a:r>
            <a:endParaRPr b="1" sz="3000">
              <a:solidFill>
                <a:srgbClr val="EF7B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F416D"/>
                </a:solidFill>
                <a:latin typeface="Open Sans"/>
                <a:ea typeface="Open Sans"/>
                <a:cs typeface="Open Sans"/>
                <a:sym typeface="Open Sans"/>
              </a:rPr>
              <a:t>AVEZ-VOUS DES QUESTIONS ?</a:t>
            </a:r>
            <a:endParaRPr b="1" sz="3000">
              <a:solidFill>
                <a:srgbClr val="EF7B2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9" name="Google Shape;199;p2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4453" y="1405225"/>
            <a:ext cx="4455100" cy="2787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28"/>
          <p:cNvSpPr txBox="1"/>
          <p:nvPr/>
        </p:nvSpPr>
        <p:spPr>
          <a:xfrm>
            <a:off x="490250" y="3075425"/>
            <a:ext cx="7335000" cy="14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ANNEXES</a:t>
            </a:r>
            <a:endParaRPr b="1" sz="4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